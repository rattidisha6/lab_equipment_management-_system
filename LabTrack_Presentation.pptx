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e0822a64-2099-9141-e86d-a38078a228db}">
          <p14:sldIdLst>
            <p14:sldId id="256"/>
            <p14:sldId id="257"/>
          </p14:sldIdLst>
        </p14:section>
        <p14:section name="Design" id="{c4e7766b-c486-e8af-fcd6-740493b92ea7}">
          <p14:sldIdLst>
            <p14:sldId id="258"/>
            <p14:sldId id="259"/>
            <p14:sldId id="260"/>
            <p14:sldId id="261"/>
            <p14:sldId id="262"/>
          </p14:sldIdLst>
        </p14:section>
        <p14:section name="Features" id="{8ce0f51d-1fdd-8154-87b1-e39b4cec7a6e}">
          <p14:sldIdLst>
            <p14:sldId id="263"/>
            <p14:sldId id="264"/>
            <p14:sldId id="265"/>
          </p14:sldIdLst>
        </p14:section>
        <p14:section name="Wrap-up" id="{ac5b2a83-6dba-71a0-2e74-02175ddb819e}">
          <p14:sldIdLst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LabTrack: a web-based system to manage lab equipment, students, faculty, suppliers, purchases, issue/return and maintenance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 often track equipment on paper or spreadsheets, so nobody knows live availability. LabTrack centralises everything and keeps stock counts correct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Plain HTML/CSS/JS on the front, Express on Node.js for the API, MongoDB for storage. No heavy frontend framework, so it is simple to run and explain.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sends fetch() requests to Express. Express validates and applies business rules, then talks to MongoDB using the official driver. Static files are served from the public folder.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module is a MongoDB collection with the same add / search / edit / delete workflow, driven by one shared set of field definitions.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Records are linked by business IDs (e.g. equipmentId, labId) instead of MongoDB ObjectIds, which keeps them readable. A unique index on each ID field prevents duplicates.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writing 9 sets of routes, one parameterised set handles every collection. Unknown collections are rejected with 404.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key business rule. Issuing equipment reduces availableQuantity using a conditional update ($gte), so it can never go negative. Returning or deleting the transaction restores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Validation happens in the browser and again on the server, so bad data cannot get in even if the API is called directly.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UI is driven by a fieldDefinitions object in app.js. Adding a new field means adding one line; the table, search and form update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seed.js refuses to insert if any collection already has data, so it can never overwrite existing records.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next steps if we continue the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ask logo circle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Flask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458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LabTrack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Lab Equipment Management System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A full-stack web app built with Node.js, Express and MongoDB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Why LabTrack?</a:t>
            </a:r>
            <a:endParaRPr lang="en-US" sz="3000" dirty="0"/>
          </a:p>
        </p:txBody>
      </p:sp>
      <p:sp>
        <p:nvSpPr>
          <p:cNvPr id="3" name="The problem card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he problem circle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5" name="Image 0" descr="The proble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6"/>
                </a:solidFill>
              </a:rPr>
              <a:t>The problem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Equipment tracked in paper registers or sheets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No live view of how many items are available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Hard to know who borrowed what, and when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Maintenance and purchase history scattered</a:t>
            </a:r>
            <a:endParaRPr lang="en-US" sz="1500" dirty="0"/>
          </a:p>
        </p:txBody>
      </p:sp>
      <p:sp>
        <p:nvSpPr>
          <p:cNvPr id="8" name="Our solution card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2778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Our solution circle"/>
          <p:cNvSpPr/>
          <p:nvPr/>
        </p:nvSpPr>
        <p:spPr>
          <a:xfrm>
            <a:off x="4937760" y="1417320"/>
            <a:ext cx="548640" cy="548640"/>
          </a:xfrm>
          <a:prstGeom prst="ellipse">
            <a:avLst/>
          </a:prstGeom>
          <a:solidFill>
            <a:schemeClr val="bg1"/>
          </a:solidFill>
          <a:ln/>
        </p:spPr>
      </p:sp>
      <p:pic>
        <p:nvPicPr>
          <p:cNvPr id="10" name="Image 1" descr="Our solu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235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Our solution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937760" y="219456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One dashboard for every lab record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Stock updates automatically on issue / return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Add, search, edit, delete across 9 modules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Validated data stored centrally in MongoDB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Technology stack</a:t>
            </a:r>
            <a:endParaRPr lang="en-US" sz="3000" dirty="0"/>
          </a:p>
        </p:txBody>
      </p:sp>
      <p:sp>
        <p:nvSpPr>
          <p:cNvPr id="3" name="Frontend card"/>
          <p:cNvSpPr/>
          <p:nvPr/>
        </p:nvSpPr>
        <p:spPr>
          <a:xfrm>
            <a:off x="45720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rontend circle"/>
          <p:cNvSpPr/>
          <p:nvPr/>
        </p:nvSpPr>
        <p:spPr>
          <a:xfrm>
            <a:off x="1051560" y="155448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Fronte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3736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Frontend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HTML5 + CSS3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Vanilla JavaScript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fetch() API calls</a:t>
            </a:r>
            <a:endParaRPr lang="en-US" sz="1400" dirty="0"/>
          </a:p>
        </p:txBody>
      </p:sp>
      <p:sp>
        <p:nvSpPr>
          <p:cNvPr id="8" name="Backend card"/>
          <p:cNvSpPr/>
          <p:nvPr/>
        </p:nvSpPr>
        <p:spPr>
          <a:xfrm>
            <a:off x="256032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Backend circle"/>
          <p:cNvSpPr/>
          <p:nvPr/>
        </p:nvSpPr>
        <p:spPr>
          <a:xfrm>
            <a:off x="3154680" y="155448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mage 1" descr="Backe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373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Node.js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Express 5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REST JSON API</a:t>
            </a:r>
            <a:endParaRPr lang="en-US" sz="1400" dirty="0"/>
          </a:p>
        </p:txBody>
      </p:sp>
      <p:sp>
        <p:nvSpPr>
          <p:cNvPr id="13" name="Database card"/>
          <p:cNvSpPr/>
          <p:nvPr/>
        </p:nvSpPr>
        <p:spPr>
          <a:xfrm>
            <a:off x="466344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Database circle"/>
          <p:cNvSpPr/>
          <p:nvPr/>
        </p:nvSpPr>
        <p:spPr>
          <a:xfrm>
            <a:off x="5257800" y="155448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37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Database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MongoDB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Official driver v7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9 collections</a:t>
            </a:r>
            <a:endParaRPr lang="en-US" sz="1400" dirty="0"/>
          </a:p>
        </p:txBody>
      </p:sp>
      <p:sp>
        <p:nvSpPr>
          <p:cNvPr id="18" name="Tools card"/>
          <p:cNvSpPr/>
          <p:nvPr/>
        </p:nvSpPr>
        <p:spPr>
          <a:xfrm>
            <a:off x="6766560" y="1280160"/>
            <a:ext cx="1920240" cy="301752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ools circle"/>
          <p:cNvSpPr/>
          <p:nvPr/>
        </p:nvSpPr>
        <p:spPr>
          <a:xfrm>
            <a:off x="7360920" y="155448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0" name="Image 3" descr="Tool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3736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4231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Tools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2880360"/>
            <a:ext cx="1737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npm + dotenv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MongoDB Compass</a:t>
            </a:r>
            <a:endParaRPr lang="en-US" sz="14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seed.js sample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System architecture</a:t>
            </a:r>
            <a:endParaRPr lang="en-US" sz="3000" dirty="0"/>
          </a:p>
        </p:txBody>
      </p:sp>
      <p:sp>
        <p:nvSpPr>
          <p:cNvPr id="3" name="Browser box"/>
          <p:cNvSpPr/>
          <p:nvPr/>
        </p:nvSpPr>
        <p:spPr>
          <a:xfrm>
            <a:off x="457200" y="1371600"/>
            <a:ext cx="2377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Browser circle"/>
          <p:cNvSpPr/>
          <p:nvPr/>
        </p:nvSpPr>
        <p:spPr>
          <a:xfrm>
            <a:off x="1280160" y="16002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Brows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Browser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index.html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app.js · style.css</a:t>
            </a:r>
            <a:endParaRPr lang="en-US" sz="1400" dirty="0"/>
          </a:p>
        </p:txBody>
      </p:sp>
      <p:sp>
        <p:nvSpPr>
          <p:cNvPr id="8" name="Express server box"/>
          <p:cNvSpPr/>
          <p:nvPr/>
        </p:nvSpPr>
        <p:spPr>
          <a:xfrm>
            <a:off x="3383280" y="1371600"/>
            <a:ext cx="2377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Express server circle"/>
          <p:cNvSpPr/>
          <p:nvPr/>
        </p:nvSpPr>
        <p:spPr>
          <a:xfrm>
            <a:off x="4206240" y="1600200"/>
            <a:ext cx="731520" cy="73152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mage 1" descr="Express serv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8328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Express server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server.js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Port 3000 · /api routes</a:t>
            </a:r>
            <a:endParaRPr lang="en-US" sz="1400" dirty="0"/>
          </a:p>
        </p:txBody>
      </p:sp>
      <p:sp>
        <p:nvSpPr>
          <p:cNvPr id="13" name="MongoDB box"/>
          <p:cNvSpPr/>
          <p:nvPr/>
        </p:nvSpPr>
        <p:spPr>
          <a:xfrm>
            <a:off x="6309360" y="1371600"/>
            <a:ext cx="2377440" cy="237744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MongoDB circle"/>
          <p:cNvSpPr/>
          <p:nvPr/>
        </p:nvSpPr>
        <p:spPr>
          <a:xfrm>
            <a:off x="7132320" y="160020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Image 2" descr="MongoD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468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MongoDB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9260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LabEquipmentDB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9 collections</a:t>
            </a:r>
            <a:endParaRPr lang="en-US" sz="1400" dirty="0"/>
          </a:p>
        </p:txBody>
      </p:sp>
      <p:sp>
        <p:nvSpPr>
          <p:cNvPr id="18" name="Arrow 1"/>
          <p:cNvSpPr/>
          <p:nvPr/>
        </p:nvSpPr>
        <p:spPr>
          <a:xfrm>
            <a:off x="2834640" y="2423160"/>
            <a:ext cx="54864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19" name="Arrow 2"/>
          <p:cNvSpPr/>
          <p:nvPr/>
        </p:nvSpPr>
        <p:spPr>
          <a:xfrm>
            <a:off x="5760720" y="2423160"/>
            <a:ext cx="548640" cy="365760"/>
          </a:xfrm>
          <a:prstGeom prst="rightArrow">
            <a:avLst/>
          </a:prstGeom>
          <a:solidFill>
            <a:schemeClr val="accent2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260604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HTTP + JSON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553212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MongoClient</a:t>
            </a:r>
            <a:endParaRPr lang="en-US" sz="1100" dirty="0"/>
          </a:p>
        </p:txBody>
      </p:sp>
      <p:sp>
        <p:nvSpPr>
          <p:cNvPr id="22" name="Text 17"/>
          <p:cNvSpPr txBox="1"/>
          <p:nvPr/>
        </p:nvSpPr>
        <p:spPr>
          <a:xfrm>
            <a:off x="457200" y="40233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Three-tier design: the UI never touches the database directly. Every change goes through the API, where validation and stock rules run.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Nine management modules</a:t>
            </a:r>
            <a:endParaRPr lang="en-US" sz="3000" dirty="0"/>
          </a:p>
        </p:txBody>
      </p:sp>
      <p:sp>
        <p:nvSpPr>
          <p:cNvPr id="3" name="Departments card"/>
          <p:cNvSpPr/>
          <p:nvPr/>
        </p:nvSpPr>
        <p:spPr>
          <a:xfrm>
            <a:off x="457200" y="1188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epartments circle"/>
          <p:cNvSpPr/>
          <p:nvPr/>
        </p:nvSpPr>
        <p:spPr>
          <a:xfrm>
            <a:off x="621792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Depart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52704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Departments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Academic departments</a:t>
            </a:r>
            <a:endParaRPr lang="en-US" sz="1200" dirty="0"/>
          </a:p>
        </p:txBody>
      </p:sp>
      <p:sp>
        <p:nvSpPr>
          <p:cNvPr id="8" name="Students card"/>
          <p:cNvSpPr/>
          <p:nvPr/>
        </p:nvSpPr>
        <p:spPr>
          <a:xfrm>
            <a:off x="3200400" y="1188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tudents circle"/>
          <p:cNvSpPr/>
          <p:nvPr/>
        </p:nvSpPr>
        <p:spPr>
          <a:xfrm>
            <a:off x="3364992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Stud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152" y="152704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Students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06908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Student records</a:t>
            </a:r>
            <a:endParaRPr lang="en-US" sz="1200" dirty="0"/>
          </a:p>
        </p:txBody>
      </p:sp>
      <p:sp>
        <p:nvSpPr>
          <p:cNvPr id="13" name="Faculty card"/>
          <p:cNvSpPr/>
          <p:nvPr/>
        </p:nvSpPr>
        <p:spPr>
          <a:xfrm>
            <a:off x="5943600" y="1188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aculty circle"/>
          <p:cNvSpPr/>
          <p:nvPr/>
        </p:nvSpPr>
        <p:spPr>
          <a:xfrm>
            <a:off x="6108192" y="1389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Facult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52704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344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Faculty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81228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Staff records</a:t>
            </a:r>
            <a:endParaRPr lang="en-US" sz="1200" dirty="0"/>
          </a:p>
        </p:txBody>
      </p:sp>
      <p:sp>
        <p:nvSpPr>
          <p:cNvPr id="18" name="Laboratories card"/>
          <p:cNvSpPr/>
          <p:nvPr/>
        </p:nvSpPr>
        <p:spPr>
          <a:xfrm>
            <a:off x="457200" y="2331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Laboratories circle"/>
          <p:cNvSpPr/>
          <p:nvPr/>
        </p:nvSpPr>
        <p:spPr>
          <a:xfrm>
            <a:off x="621792" y="2532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Laboratori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670048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Laboratories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13258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Labs, location, capacity</a:t>
            </a:r>
            <a:endParaRPr lang="en-US" sz="1200" dirty="0"/>
          </a:p>
        </p:txBody>
      </p:sp>
      <p:sp>
        <p:nvSpPr>
          <p:cNvPr id="23" name="Equipment card"/>
          <p:cNvSpPr/>
          <p:nvPr/>
        </p:nvSpPr>
        <p:spPr>
          <a:xfrm>
            <a:off x="3200400" y="2331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Equipment circle"/>
          <p:cNvSpPr/>
          <p:nvPr/>
        </p:nvSpPr>
        <p:spPr>
          <a:xfrm>
            <a:off x="3364992" y="2532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Equipmen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267004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Equipment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40690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Stock and availability</a:t>
            </a:r>
            <a:endParaRPr lang="en-US" sz="1200" dirty="0"/>
          </a:p>
        </p:txBody>
      </p:sp>
      <p:sp>
        <p:nvSpPr>
          <p:cNvPr id="28" name="Suppliers card"/>
          <p:cNvSpPr/>
          <p:nvPr/>
        </p:nvSpPr>
        <p:spPr>
          <a:xfrm>
            <a:off x="5943600" y="2331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uppliers circle"/>
          <p:cNvSpPr/>
          <p:nvPr/>
        </p:nvSpPr>
        <p:spPr>
          <a:xfrm>
            <a:off x="6108192" y="2532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Supplie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5352" y="2670048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2487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Suppliers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81228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Vendor contacts</a:t>
            </a:r>
            <a:endParaRPr lang="en-US" sz="1200" dirty="0"/>
          </a:p>
        </p:txBody>
      </p:sp>
      <p:sp>
        <p:nvSpPr>
          <p:cNvPr id="33" name="Purchases card"/>
          <p:cNvSpPr/>
          <p:nvPr/>
        </p:nvSpPr>
        <p:spPr>
          <a:xfrm>
            <a:off x="457200" y="3474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Purchases circle"/>
          <p:cNvSpPr/>
          <p:nvPr/>
        </p:nvSpPr>
        <p:spPr>
          <a:xfrm>
            <a:off x="621792" y="3675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Image 6" descr="Purchase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52" y="3813048"/>
            <a:ext cx="274320" cy="27432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1325880" y="3630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Purchases</a:t>
            </a:r>
            <a:endParaRPr lang="en-US" sz="1600" dirty="0"/>
          </a:p>
        </p:txBody>
      </p:sp>
      <p:sp>
        <p:nvSpPr>
          <p:cNvPr id="37" name="Text 28"/>
          <p:cNvSpPr txBox="1"/>
          <p:nvPr/>
        </p:nvSpPr>
        <p:spPr>
          <a:xfrm>
            <a:off x="13258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Orders and amounts</a:t>
            </a:r>
            <a:endParaRPr lang="en-US" sz="1200" dirty="0"/>
          </a:p>
        </p:txBody>
      </p:sp>
      <p:sp>
        <p:nvSpPr>
          <p:cNvPr id="38" name="Issue / Return card"/>
          <p:cNvSpPr/>
          <p:nvPr/>
        </p:nvSpPr>
        <p:spPr>
          <a:xfrm>
            <a:off x="3200400" y="3474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Issue / Return circle"/>
          <p:cNvSpPr/>
          <p:nvPr/>
        </p:nvSpPr>
        <p:spPr>
          <a:xfrm>
            <a:off x="3364992" y="3675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0" name="Image 7" descr="Issue / Retur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02152" y="3813048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069080" y="3630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Issue / Return</a:t>
            </a:r>
            <a:endParaRPr lang="en-US" sz="1600" dirty="0"/>
          </a:p>
        </p:txBody>
      </p:sp>
      <p:sp>
        <p:nvSpPr>
          <p:cNvPr id="42" name="Text 32"/>
          <p:cNvSpPr txBox="1"/>
          <p:nvPr/>
        </p:nvSpPr>
        <p:spPr>
          <a:xfrm>
            <a:off x="40690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Borrowing transactions</a:t>
            </a:r>
            <a:endParaRPr lang="en-US" sz="1200" dirty="0"/>
          </a:p>
        </p:txBody>
      </p:sp>
      <p:sp>
        <p:nvSpPr>
          <p:cNvPr id="43" name="Maintenance card"/>
          <p:cNvSpPr/>
          <p:nvPr/>
        </p:nvSpPr>
        <p:spPr>
          <a:xfrm>
            <a:off x="5943600" y="3474720"/>
            <a:ext cx="2560320" cy="960120"/>
          </a:xfrm>
          <a:prstGeom prst="roundRect">
            <a:avLst>
              <a:gd name="adj" fmla="val 95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Maintenance circle"/>
          <p:cNvSpPr/>
          <p:nvPr/>
        </p:nvSpPr>
        <p:spPr>
          <a:xfrm>
            <a:off x="6108192" y="367588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5" name="Image 8" descr="Maintenanc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813048"/>
            <a:ext cx="274320" cy="274320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6812280" y="36301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Maintenance</a:t>
            </a:r>
            <a:endParaRPr lang="en-US" sz="1600" dirty="0"/>
          </a:p>
        </p:txBody>
      </p:sp>
      <p:sp>
        <p:nvSpPr>
          <p:cNvPr id="47" name="Text 36"/>
          <p:cNvSpPr txBox="1"/>
          <p:nvPr/>
        </p:nvSpPr>
        <p:spPr>
          <a:xfrm>
            <a:off x="6812280" y="3977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B75"/>
                </a:solidFill>
              </a:rPr>
              <a:t>Repairs and cost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Database design: LabEquipmentDB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828800"/>
                <a:gridCol w="4663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ID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fields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5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departments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deptName, 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dob, email,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facultyId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email, department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labName, location, capacity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quantity, availableQuantity, status, labId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supplierName, contactPerson, 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supplierId, equipmentId, quantity, totalAmount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issueReturns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equipmentId, studentId / facultyId, status, dates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A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equipmentId, problem, cost, 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0" marB="0" anchor="ctr">
                    <a:lnL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4348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5"/>
                </a:solidFill>
              </a:rPr>
              <a:t>Every record also gets createdAt and updatedAt timestamps automatically.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REST API</a:t>
            </a:r>
            <a:endParaRPr lang="en-US" sz="3000" dirty="0"/>
          </a:p>
        </p:txBody>
      </p:sp>
      <p:sp>
        <p:nvSpPr>
          <p:cNvPr id="3" name="API row 1"/>
          <p:cNvSpPr/>
          <p:nvPr/>
        </p:nvSpPr>
        <p:spPr>
          <a:xfrm>
            <a:off x="457200" y="1188720"/>
            <a:ext cx="8138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4" name="GET pill"/>
          <p:cNvSpPr/>
          <p:nvPr/>
        </p:nvSpPr>
        <p:spPr>
          <a:xfrm>
            <a:off x="594360" y="1289304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4A6FA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289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GET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18872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/api/collections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846320" y="11887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 all module names</a:t>
            </a:r>
            <a:endParaRPr lang="en-US" sz="1400" dirty="0"/>
          </a:p>
        </p:txBody>
      </p:sp>
      <p:sp>
        <p:nvSpPr>
          <p:cNvPr id="8" name="API row 2"/>
          <p:cNvSpPr/>
          <p:nvPr/>
        </p:nvSpPr>
        <p:spPr>
          <a:xfrm>
            <a:off x="457200" y="1847088"/>
            <a:ext cx="8138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9" name="GET pill"/>
          <p:cNvSpPr/>
          <p:nvPr/>
        </p:nvSpPr>
        <p:spPr>
          <a:xfrm>
            <a:off x="594360" y="1947672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4A6FA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947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645920" y="1847088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/api/:collection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0" y="18470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Fetch all records, newest first</a:t>
            </a:r>
            <a:endParaRPr lang="en-US" sz="1400" dirty="0"/>
          </a:p>
        </p:txBody>
      </p:sp>
      <p:sp>
        <p:nvSpPr>
          <p:cNvPr id="13" name="API row 3"/>
          <p:cNvSpPr/>
          <p:nvPr/>
        </p:nvSpPr>
        <p:spPr>
          <a:xfrm>
            <a:off x="457200" y="2505456"/>
            <a:ext cx="8138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4" name="POST pill"/>
          <p:cNvSpPr/>
          <p:nvPr/>
        </p:nvSpPr>
        <p:spPr>
          <a:xfrm>
            <a:off x="594360" y="2606040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5B8E7D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94360" y="260604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505456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/api/:collection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250545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Create a record</a:t>
            </a:r>
            <a:endParaRPr lang="en-US" sz="1400" dirty="0"/>
          </a:p>
        </p:txBody>
      </p:sp>
      <p:sp>
        <p:nvSpPr>
          <p:cNvPr id="18" name="API row 4"/>
          <p:cNvSpPr/>
          <p:nvPr/>
        </p:nvSpPr>
        <p:spPr>
          <a:xfrm>
            <a:off x="457200" y="3163824"/>
            <a:ext cx="8138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19" name="PUT pill"/>
          <p:cNvSpPr/>
          <p:nvPr/>
        </p:nvSpPr>
        <p:spPr>
          <a:xfrm>
            <a:off x="594360" y="3264408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E3641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594360" y="326440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PUT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645920" y="3163824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/api/:collection/:id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846320" y="316382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Update a record</a:t>
            </a:r>
            <a:endParaRPr lang="en-US" sz="1400" dirty="0"/>
          </a:p>
        </p:txBody>
      </p:sp>
      <p:sp>
        <p:nvSpPr>
          <p:cNvPr id="23" name="API row 5"/>
          <p:cNvSpPr/>
          <p:nvPr/>
        </p:nvSpPr>
        <p:spPr>
          <a:xfrm>
            <a:off x="457200" y="3822192"/>
            <a:ext cx="8138160" cy="530352"/>
          </a:xfrm>
          <a:prstGeom prst="roundRect">
            <a:avLst>
              <a:gd name="adj" fmla="val 13793"/>
            </a:avLst>
          </a:prstGeom>
          <a:solidFill>
            <a:schemeClr val="bg2"/>
          </a:solidFill>
          <a:ln/>
        </p:spPr>
      </p:sp>
      <p:sp>
        <p:nvSpPr>
          <p:cNvPr id="24" name="DELETE pill"/>
          <p:cNvSpPr/>
          <p:nvPr/>
        </p:nvSpPr>
        <p:spPr>
          <a:xfrm>
            <a:off x="594360" y="3922776"/>
            <a:ext cx="868680" cy="329184"/>
          </a:xfrm>
          <a:prstGeom prst="roundRect">
            <a:avLst>
              <a:gd name="adj" fmla="val 22222"/>
            </a:avLst>
          </a:prstGeom>
          <a:solidFill>
            <a:srgbClr val="9A031E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594360" y="392277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DELETE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645920" y="3822192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/api/:collection/:id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846320" y="382219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Delete a record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5"/>
                </a:solidFill>
              </a:rPr>
              <a:t>One generic set of routes serves all nine modules; unknown collection names return 404.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Automatic stock management</a:t>
            </a:r>
            <a:endParaRPr lang="en-US" sz="3000" dirty="0"/>
          </a:p>
        </p:txBody>
      </p:sp>
      <p:sp>
        <p:nvSpPr>
          <p:cNvPr id="3" name="Issue step"/>
          <p:cNvSpPr/>
          <p:nvPr/>
        </p:nvSpPr>
        <p:spPr>
          <a:xfrm>
            <a:off x="45720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ssue circle"/>
          <p:cNvSpPr/>
          <p:nvPr/>
        </p:nvSpPr>
        <p:spPr>
          <a:xfrm>
            <a:off x="105156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Issu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1. Issue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transaction is saved with status Issued</a:t>
            </a:r>
            <a:endParaRPr lang="en-US" sz="1300" dirty="0"/>
          </a:p>
        </p:txBody>
      </p:sp>
      <p:sp>
        <p:nvSpPr>
          <p:cNvPr id="8" name="Deduct step"/>
          <p:cNvSpPr/>
          <p:nvPr/>
        </p:nvSpPr>
        <p:spPr>
          <a:xfrm>
            <a:off x="256032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Deduct circle"/>
          <p:cNvSpPr/>
          <p:nvPr/>
        </p:nvSpPr>
        <p:spPr>
          <a:xfrm>
            <a:off x="315468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Deduc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6916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2. Deduct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9748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availableQuantity drops by 1, only if stock is at least 1</a:t>
            </a:r>
            <a:endParaRPr lang="en-US" sz="1300" dirty="0"/>
          </a:p>
        </p:txBody>
      </p:sp>
      <p:sp>
        <p:nvSpPr>
          <p:cNvPr id="13" name="Flag step"/>
          <p:cNvSpPr/>
          <p:nvPr/>
        </p:nvSpPr>
        <p:spPr>
          <a:xfrm>
            <a:off x="466344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Flag circle"/>
          <p:cNvSpPr/>
          <p:nvPr/>
        </p:nvSpPr>
        <p:spPr>
          <a:xfrm>
            <a:off x="5257800" y="150876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5" name="Image 2" descr="Fla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69164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3. Flag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80060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 zero stock the equipment status becomes Unavailable</a:t>
            </a:r>
            <a:endParaRPr lang="en-US" sz="1300" dirty="0"/>
          </a:p>
        </p:txBody>
      </p:sp>
      <p:sp>
        <p:nvSpPr>
          <p:cNvPr id="18" name="Return step"/>
          <p:cNvSpPr/>
          <p:nvPr/>
        </p:nvSpPr>
        <p:spPr>
          <a:xfrm>
            <a:off x="6766560" y="1280160"/>
            <a:ext cx="1920240" cy="2651760"/>
          </a:xfrm>
          <a:prstGeom prst="roundRect">
            <a:avLst>
              <a:gd name="adj" fmla="val 4762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Return circle"/>
          <p:cNvSpPr/>
          <p:nvPr/>
        </p:nvSpPr>
        <p:spPr>
          <a:xfrm>
            <a:off x="7360920" y="15087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Retur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69164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3774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4. Return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903720" y="278892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Status changes or record deleted: stock goes back +1, capped at total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Stock is reduced with a conditional MongoDB update, so two people cannot borrow the last item at the same time.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Validation and data integrity</a:t>
            </a:r>
            <a:endParaRPr lang="en-US" sz="3000" dirty="0"/>
          </a:p>
        </p:txBody>
      </p:sp>
      <p:sp>
        <p:nvSpPr>
          <p:cNvPr id="3" name="Unique IDs card"/>
          <p:cNvSpPr/>
          <p:nvPr/>
        </p:nvSpPr>
        <p:spPr>
          <a:xfrm>
            <a:off x="457200" y="118872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Unique IDs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Unique ID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Unique IDs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Unique indexes plus a 409 error on duplicates</a:t>
            </a:r>
            <a:endParaRPr lang="en-US" sz="1200" dirty="0"/>
          </a:p>
        </p:txBody>
      </p:sp>
      <p:sp>
        <p:nvSpPr>
          <p:cNvPr id="8" name="Required fields card"/>
          <p:cNvSpPr/>
          <p:nvPr/>
        </p:nvSpPr>
        <p:spPr>
          <a:xfrm>
            <a:off x="4617720" y="118872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equired fields circle"/>
          <p:cNvSpPr/>
          <p:nvPr/>
        </p:nvSpPr>
        <p:spPr>
          <a:xfrm>
            <a:off x="48006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Image 1" descr="Required field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Required fields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Form and server both enforce them</a:t>
            </a:r>
            <a:endParaRPr lang="en-US" sz="1200" dirty="0"/>
          </a:p>
        </p:txBody>
      </p:sp>
      <p:sp>
        <p:nvSpPr>
          <p:cNvPr id="13" name="Safe numbers card"/>
          <p:cNvSpPr/>
          <p:nvPr/>
        </p:nvSpPr>
        <p:spPr>
          <a:xfrm>
            <a:off x="457200" y="228600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afe numbers circle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Image 2" descr="Safe numb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Safe numbers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Quantities, prices, costs must be 0 or more</a:t>
            </a:r>
            <a:endParaRPr lang="en-US" sz="1200" dirty="0"/>
          </a:p>
        </p:txBody>
      </p:sp>
      <p:sp>
        <p:nvSpPr>
          <p:cNvPr id="18" name="Stock rules card"/>
          <p:cNvSpPr/>
          <p:nvPr/>
        </p:nvSpPr>
        <p:spPr>
          <a:xfrm>
            <a:off x="4617720" y="228600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tock rules circle"/>
          <p:cNvSpPr/>
          <p:nvPr/>
        </p:nvSpPr>
        <p:spPr>
          <a:xfrm>
            <a:off x="4800600" y="24688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Image 3" descr="Stock rule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Stock rules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Available can never exceed total quantity</a:t>
            </a:r>
            <a:endParaRPr lang="en-US" sz="1200" dirty="0"/>
          </a:p>
        </p:txBody>
      </p:sp>
      <p:sp>
        <p:nvSpPr>
          <p:cNvPr id="23" name="Rollback card"/>
          <p:cNvSpPr/>
          <p:nvPr/>
        </p:nvSpPr>
        <p:spPr>
          <a:xfrm>
            <a:off x="457200" y="33832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Rollback circle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Image 4" descr="Rollba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Rollback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Stock restored if the database insert fails</a:t>
            </a:r>
            <a:endParaRPr lang="en-US" sz="1200" dirty="0"/>
          </a:p>
        </p:txBody>
      </p:sp>
      <p:sp>
        <p:nvSpPr>
          <p:cNvPr id="28" name="XSS protection card"/>
          <p:cNvSpPr/>
          <p:nvPr/>
        </p:nvSpPr>
        <p:spPr>
          <a:xfrm>
            <a:off x="4617720" y="33832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XSS protection circle"/>
          <p:cNvSpPr/>
          <p:nvPr/>
        </p:nvSpPr>
        <p:spPr>
          <a:xfrm>
            <a:off x="4800600" y="356616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0" name="Image 5" descr="XSS protecti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XSS protection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All values escaped before rendering in the table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User interface</a:t>
            </a:r>
            <a:endParaRPr lang="en-US" sz="3000" dirty="0"/>
          </a:p>
        </p:txBody>
      </p:sp>
      <p:sp>
        <p:nvSpPr>
          <p:cNvPr id="3" name="Dot 1"/>
          <p:cNvSpPr/>
          <p:nvPr/>
        </p:nvSpPr>
        <p:spPr>
          <a:xfrm>
            <a:off x="457200" y="126187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Dashboard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4630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counts of students, equipment, suppliers and issue records</a:t>
            </a:r>
            <a:endParaRPr lang="en-US" sz="1200" dirty="0"/>
          </a:p>
        </p:txBody>
      </p:sp>
      <p:sp>
        <p:nvSpPr>
          <p:cNvPr id="6" name="Dot 2"/>
          <p:cNvSpPr/>
          <p:nvPr/>
        </p:nvSpPr>
        <p:spPr>
          <a:xfrm>
            <a:off x="457200" y="194767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74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Dynamic tables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Columns and forms are generated from one field-definition map</a:t>
            </a:r>
            <a:endParaRPr lang="en-US" sz="1200" dirty="0"/>
          </a:p>
        </p:txBody>
      </p:sp>
      <p:sp>
        <p:nvSpPr>
          <p:cNvPr id="9" name="Dot 3"/>
          <p:cNvSpPr/>
          <p:nvPr/>
        </p:nvSpPr>
        <p:spPr>
          <a:xfrm>
            <a:off x="457200" y="263347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5603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Instant search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Filters across every column as you type</a:t>
            </a:r>
            <a:endParaRPr lang="en-US" sz="1200" dirty="0"/>
          </a:p>
        </p:txBody>
      </p:sp>
      <p:sp>
        <p:nvSpPr>
          <p:cNvPr id="12" name="Dot 4"/>
          <p:cNvSpPr/>
          <p:nvPr/>
        </p:nvSpPr>
        <p:spPr>
          <a:xfrm>
            <a:off x="457200" y="331927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246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 / edit form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520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Slide-in panel with required-field markers and date pickers</a:t>
            </a:r>
            <a:endParaRPr lang="en-US" sz="1200" dirty="0"/>
          </a:p>
        </p:txBody>
      </p:sp>
      <p:sp>
        <p:nvSpPr>
          <p:cNvPr id="15" name="Dot 5"/>
          <p:cNvSpPr/>
          <p:nvPr/>
        </p:nvSpPr>
        <p:spPr>
          <a:xfrm>
            <a:off x="457200" y="4005072"/>
            <a:ext cx="128016" cy="128016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Responsive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Sidebar collapses on tablets and phones</a:t>
            </a:r>
            <a:endParaRPr lang="en-US" sz="1200" dirty="0"/>
          </a:p>
        </p:txBody>
      </p:sp>
      <p:sp>
        <p:nvSpPr>
          <p:cNvPr id="18" name="Mock window"/>
          <p:cNvSpPr/>
          <p:nvPr/>
        </p:nvSpPr>
        <p:spPr>
          <a:xfrm>
            <a:off x="4663440" y="1188720"/>
            <a:ext cx="4023360" cy="3200400"/>
          </a:xfrm>
          <a:prstGeom prst="roundRect">
            <a:avLst>
              <a:gd name="adj" fmla="val 2857"/>
            </a:avLst>
          </a:prstGeom>
          <a:solidFill>
            <a:srgbClr val="F3F6FC"/>
          </a:solidFill>
          <a:ln w="12700">
            <a:solidFill>
              <a:srgbClr val="D5E0E3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Mock sidebar"/>
          <p:cNvSpPr/>
          <p:nvPr/>
        </p:nvSpPr>
        <p:spPr>
          <a:xfrm>
            <a:off x="4754880" y="1280160"/>
            <a:ext cx="914400" cy="30175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800600" y="1371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LabTrack</a:t>
            </a:r>
            <a:endParaRPr lang="en-US" sz="1100" dirty="0"/>
          </a:p>
        </p:txBody>
      </p:sp>
      <p:sp>
        <p:nvSpPr>
          <p:cNvPr id="21" name="Mock nav 1"/>
          <p:cNvSpPr/>
          <p:nvPr/>
        </p:nvSpPr>
        <p:spPr>
          <a:xfrm>
            <a:off x="4828032" y="178308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DCE5FF"/>
          </a:solidFill>
          <a:ln/>
        </p:spPr>
      </p:sp>
      <p:sp>
        <p:nvSpPr>
          <p:cNvPr id="22" name="Mock nav 2"/>
          <p:cNvSpPr/>
          <p:nvPr/>
        </p:nvSpPr>
        <p:spPr>
          <a:xfrm>
            <a:off x="4828032" y="2130552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/>
        </p:spPr>
      </p:sp>
      <p:sp>
        <p:nvSpPr>
          <p:cNvPr id="23" name="Mock nav 3"/>
          <p:cNvSpPr/>
          <p:nvPr/>
        </p:nvSpPr>
        <p:spPr>
          <a:xfrm>
            <a:off x="4828032" y="2478024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/>
        </p:spPr>
      </p:sp>
      <p:sp>
        <p:nvSpPr>
          <p:cNvPr id="24" name="Mock nav 4"/>
          <p:cNvSpPr/>
          <p:nvPr/>
        </p:nvSpPr>
        <p:spPr>
          <a:xfrm>
            <a:off x="4828032" y="2825496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/>
        </p:spPr>
      </p:sp>
      <p:sp>
        <p:nvSpPr>
          <p:cNvPr id="25" name="Mock nav 5"/>
          <p:cNvSpPr/>
          <p:nvPr/>
        </p:nvSpPr>
        <p:spPr>
          <a:xfrm>
            <a:off x="4828032" y="3172968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/>
        </p:spPr>
      </p:sp>
      <p:sp>
        <p:nvSpPr>
          <p:cNvPr id="26" name="Mock nav 6"/>
          <p:cNvSpPr/>
          <p:nvPr/>
        </p:nvSpPr>
        <p:spPr>
          <a:xfrm>
            <a:off x="4828032" y="3520440"/>
            <a:ext cx="768096" cy="182880"/>
          </a:xfrm>
          <a:prstGeom prst="roundRect">
            <a:avLst>
              <a:gd name="adj" fmla="val 25000"/>
            </a:avLst>
          </a:prstGeom>
          <a:solidFill>
            <a:srgbClr val="EEF2F7"/>
          </a:solidFill>
          <a:ln/>
        </p:spPr>
      </p:sp>
      <p:sp>
        <p:nvSpPr>
          <p:cNvPr id="27" name="Mock banner"/>
          <p:cNvSpPr/>
          <p:nvPr/>
        </p:nvSpPr>
        <p:spPr>
          <a:xfrm>
            <a:off x="5806440" y="1280160"/>
            <a:ext cx="2788920" cy="822960"/>
          </a:xfrm>
          <a:prstGeom prst="roundRect">
            <a:avLst>
              <a:gd name="adj" fmla="val 8889"/>
            </a:avLst>
          </a:prstGeom>
          <a:solidFill>
            <a:schemeClr val="accent1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897880" y="13716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Lab Equipment Management</a:t>
            </a:r>
            <a:endParaRPr lang="en-US" sz="1100" dirty="0"/>
          </a:p>
        </p:txBody>
      </p:sp>
      <p:sp>
        <p:nvSpPr>
          <p:cNvPr id="29" name="Mock stat 1"/>
          <p:cNvSpPr/>
          <p:nvPr/>
        </p:nvSpPr>
        <p:spPr>
          <a:xfrm>
            <a:off x="5806440" y="22402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F3"/>
            </a:solidFill>
            <a:prstDash val="solid"/>
          </a:ln>
        </p:spPr>
      </p:sp>
      <p:sp>
        <p:nvSpPr>
          <p:cNvPr id="30" name="Mock stat dot 1"/>
          <p:cNvSpPr/>
          <p:nvPr/>
        </p:nvSpPr>
        <p:spPr>
          <a:xfrm>
            <a:off x="5916168" y="2350008"/>
            <a:ext cx="256032" cy="256032"/>
          </a:xfrm>
          <a:prstGeom prst="ellipse">
            <a:avLst/>
          </a:prstGeom>
          <a:solidFill>
            <a:srgbClr val="4A6FA5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91616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Students</a:t>
            </a:r>
            <a:endParaRPr lang="en-US" sz="1100" dirty="0"/>
          </a:p>
        </p:txBody>
      </p:sp>
      <p:sp>
        <p:nvSpPr>
          <p:cNvPr id="32" name="Mock stat 2"/>
          <p:cNvSpPr/>
          <p:nvPr/>
        </p:nvSpPr>
        <p:spPr>
          <a:xfrm>
            <a:off x="7223760" y="224028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F3"/>
            </a:solidFill>
            <a:prstDash val="solid"/>
          </a:ln>
        </p:spPr>
      </p:sp>
      <p:sp>
        <p:nvSpPr>
          <p:cNvPr id="33" name="Mock stat dot 2"/>
          <p:cNvSpPr/>
          <p:nvPr/>
        </p:nvSpPr>
        <p:spPr>
          <a:xfrm>
            <a:off x="7333488" y="2350008"/>
            <a:ext cx="256032" cy="256032"/>
          </a:xfrm>
          <a:prstGeom prst="ellipse">
            <a:avLst/>
          </a:prstGeom>
          <a:solidFill>
            <a:srgbClr val="8154D9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333488" y="26974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Equipment</a:t>
            </a:r>
            <a:endParaRPr lang="en-US" sz="1100" dirty="0"/>
          </a:p>
        </p:txBody>
      </p:sp>
      <p:sp>
        <p:nvSpPr>
          <p:cNvPr id="35" name="Mock stat 3"/>
          <p:cNvSpPr/>
          <p:nvPr/>
        </p:nvSpPr>
        <p:spPr>
          <a:xfrm>
            <a:off x="5806440" y="329184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F3"/>
            </a:solidFill>
            <a:prstDash val="solid"/>
          </a:ln>
        </p:spPr>
      </p:sp>
      <p:sp>
        <p:nvSpPr>
          <p:cNvPr id="36" name="Mock stat dot 3"/>
          <p:cNvSpPr/>
          <p:nvPr/>
        </p:nvSpPr>
        <p:spPr>
          <a:xfrm>
            <a:off x="5916168" y="3401568"/>
            <a:ext cx="256032" cy="256032"/>
          </a:xfrm>
          <a:prstGeom prst="ellipse">
            <a:avLst/>
          </a:prstGeom>
          <a:solidFill>
            <a:srgbClr val="5B8E7D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5916168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Suppliers</a:t>
            </a:r>
            <a:endParaRPr lang="en-US" sz="1100" dirty="0"/>
          </a:p>
        </p:txBody>
      </p:sp>
      <p:sp>
        <p:nvSpPr>
          <p:cNvPr id="38" name="Mock stat 4"/>
          <p:cNvSpPr/>
          <p:nvPr/>
        </p:nvSpPr>
        <p:spPr>
          <a:xfrm>
            <a:off x="7223760" y="329184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9F3"/>
            </a:solidFill>
            <a:prstDash val="solid"/>
          </a:ln>
        </p:spPr>
      </p:sp>
      <p:sp>
        <p:nvSpPr>
          <p:cNvPr id="39" name="Mock stat dot 4"/>
          <p:cNvSpPr/>
          <p:nvPr/>
        </p:nvSpPr>
        <p:spPr>
          <a:xfrm>
            <a:off x="7333488" y="3401568"/>
            <a:ext cx="256032" cy="256032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333488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B75"/>
                </a:solidFill>
              </a:rPr>
              <a:t>Issues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How to run the project</a:t>
            </a:r>
            <a:endParaRPr lang="en-US" sz="3000" dirty="0"/>
          </a:p>
        </p:txBody>
      </p:sp>
      <p:sp>
        <p:nvSpPr>
          <p:cNvPr id="3" name="Step num 1"/>
          <p:cNvSpPr/>
          <p:nvPr/>
        </p:nvSpPr>
        <p:spPr>
          <a:xfrm>
            <a:off x="457200" y="1225296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2252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Command 1"/>
          <p:cNvSpPr/>
          <p:nvPr/>
        </p:nvSpPr>
        <p:spPr>
          <a:xfrm>
            <a:off x="1097280" y="1188720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B2A3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34440" y="1188720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install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709160" y="1188720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Install express, mongodb, dotenv</a:t>
            </a:r>
            <a:endParaRPr lang="en-US" sz="1400" dirty="0"/>
          </a:p>
        </p:txBody>
      </p:sp>
      <p:sp>
        <p:nvSpPr>
          <p:cNvPr id="8" name="Step num 2"/>
          <p:cNvSpPr/>
          <p:nvPr/>
        </p:nvSpPr>
        <p:spPr>
          <a:xfrm>
            <a:off x="457200" y="1883664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883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Command 2"/>
          <p:cNvSpPr/>
          <p:nvPr/>
        </p:nvSpPr>
        <p:spPr>
          <a:xfrm>
            <a:off x="1097280" y="1847088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B2A3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34440" y="1847088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mongod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1847088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MongoDB on 127.0.0.1:27017</a:t>
            </a:r>
            <a:endParaRPr lang="en-US" sz="1400" dirty="0"/>
          </a:p>
        </p:txBody>
      </p:sp>
      <p:sp>
        <p:nvSpPr>
          <p:cNvPr id="13" name="Step num 3"/>
          <p:cNvSpPr/>
          <p:nvPr/>
        </p:nvSpPr>
        <p:spPr>
          <a:xfrm>
            <a:off x="457200" y="254203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542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Command 3"/>
          <p:cNvSpPr/>
          <p:nvPr/>
        </p:nvSpPr>
        <p:spPr>
          <a:xfrm>
            <a:off x="1097280" y="2505456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B2A3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234440" y="2505456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seed.js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2505456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Load sample data (refuses if data exists)</a:t>
            </a:r>
            <a:endParaRPr lang="en-US" sz="1400" dirty="0"/>
          </a:p>
        </p:txBody>
      </p:sp>
      <p:sp>
        <p:nvSpPr>
          <p:cNvPr id="18" name="Step num 4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Command 4"/>
          <p:cNvSpPr/>
          <p:nvPr/>
        </p:nvSpPr>
        <p:spPr>
          <a:xfrm>
            <a:off x="1097280" y="3163824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B2A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34440" y="3163824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node server.js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709160" y="3163824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Start the API on port 3000</a:t>
            </a:r>
            <a:endParaRPr lang="en-US" sz="1400" dirty="0"/>
          </a:p>
        </p:txBody>
      </p:sp>
      <p:sp>
        <p:nvSpPr>
          <p:cNvPr id="23" name="Step num 5"/>
          <p:cNvSpPr/>
          <p:nvPr/>
        </p:nvSpPr>
        <p:spPr>
          <a:xfrm>
            <a:off x="457200" y="385876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5720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Command 5"/>
          <p:cNvSpPr/>
          <p:nvPr/>
        </p:nvSpPr>
        <p:spPr>
          <a:xfrm>
            <a:off x="1097280" y="3822192"/>
            <a:ext cx="3383280" cy="530352"/>
          </a:xfrm>
          <a:prstGeom prst="roundRect">
            <a:avLst>
              <a:gd name="adj" fmla="val 13793"/>
            </a:avLst>
          </a:prstGeom>
          <a:solidFill>
            <a:srgbClr val="1B2A34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234440" y="3822192"/>
            <a:ext cx="3200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http://localhost:3000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822192"/>
            <a:ext cx="3931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 the app in the browser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75"/>
                </a:solidFill>
              </a:rPr>
              <a:t>Frontend files (index.html, app.js, style.css) are served from the public folder.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Future scope</a:t>
            </a:r>
            <a:endParaRPr lang="en-US" sz="3000" dirty="0"/>
          </a:p>
        </p:txBody>
      </p:sp>
      <p:sp>
        <p:nvSpPr>
          <p:cNvPr id="3" name="Login and roles card"/>
          <p:cNvSpPr/>
          <p:nvPr/>
        </p:nvSpPr>
        <p:spPr>
          <a:xfrm>
            <a:off x="457200" y="118872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Login and roles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5" name="Image 0" descr="Login and ro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Login and roles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Separate admin, faculty and student access</a:t>
            </a:r>
            <a:endParaRPr lang="en-US" sz="1200" dirty="0"/>
          </a:p>
        </p:txBody>
      </p:sp>
      <p:sp>
        <p:nvSpPr>
          <p:cNvPr id="8" name="Overdue alerts card"/>
          <p:cNvSpPr/>
          <p:nvPr/>
        </p:nvSpPr>
        <p:spPr>
          <a:xfrm>
            <a:off x="4617720" y="118872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Overdue alerts circle"/>
          <p:cNvSpPr/>
          <p:nvPr/>
        </p:nvSpPr>
        <p:spPr>
          <a:xfrm>
            <a:off x="4800600" y="1371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0" name="Image 1" descr="Overdue ale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532120" y="129844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Overdue alerts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532120" y="1645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Email or on-screen reminders for late returns</a:t>
            </a:r>
            <a:endParaRPr lang="en-US" sz="1200" dirty="0"/>
          </a:p>
        </p:txBody>
      </p:sp>
      <p:sp>
        <p:nvSpPr>
          <p:cNvPr id="13" name="Reports and export card"/>
          <p:cNvSpPr/>
          <p:nvPr/>
        </p:nvSpPr>
        <p:spPr>
          <a:xfrm>
            <a:off x="457200" y="228600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Reports and export circle"/>
          <p:cNvSpPr/>
          <p:nvPr/>
        </p:nvSpPr>
        <p:spPr>
          <a:xfrm>
            <a:off x="640080" y="24688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Image 2" descr="Reports and expor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6060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Reports and export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37160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PDF or Excel reports, usage charts</a:t>
            </a:r>
            <a:endParaRPr lang="en-US" sz="1200" dirty="0"/>
          </a:p>
        </p:txBody>
      </p:sp>
      <p:sp>
        <p:nvSpPr>
          <p:cNvPr id="18" name="QR / barcode card"/>
          <p:cNvSpPr/>
          <p:nvPr/>
        </p:nvSpPr>
        <p:spPr>
          <a:xfrm>
            <a:off x="4617720" y="228600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QR / barcode circle"/>
          <p:cNvSpPr/>
          <p:nvPr/>
        </p:nvSpPr>
        <p:spPr>
          <a:xfrm>
            <a:off x="4800600" y="246888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Image 3" descr="QR / barcod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0604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32120" y="239572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QR / barcode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32120" y="2743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Scan equipment to issue and return fast</a:t>
            </a:r>
            <a:endParaRPr lang="en-US" sz="1200" dirty="0"/>
          </a:p>
        </p:txBody>
      </p:sp>
      <p:sp>
        <p:nvSpPr>
          <p:cNvPr id="23" name="Relational lookups card"/>
          <p:cNvSpPr/>
          <p:nvPr/>
        </p:nvSpPr>
        <p:spPr>
          <a:xfrm>
            <a:off x="457200" y="33832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Relational lookups circle"/>
          <p:cNvSpPr/>
          <p:nvPr/>
        </p:nvSpPr>
        <p:spPr>
          <a:xfrm>
            <a:off x="640080" y="3566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5" name="Image 4" descr="Relational lookup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70332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Relational lookups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137160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Show names instead of IDs in tables</a:t>
            </a:r>
            <a:endParaRPr lang="en-US" sz="1200" dirty="0"/>
          </a:p>
        </p:txBody>
      </p:sp>
      <p:sp>
        <p:nvSpPr>
          <p:cNvPr id="28" name="Config via .env card"/>
          <p:cNvSpPr/>
          <p:nvPr/>
        </p:nvSpPr>
        <p:spPr>
          <a:xfrm>
            <a:off x="4617720" y="3383280"/>
            <a:ext cx="3977640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Config via .env circle"/>
          <p:cNvSpPr/>
          <p:nvPr/>
        </p:nvSpPr>
        <p:spPr>
          <a:xfrm>
            <a:off x="4800600" y="356616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30" name="Image 5" descr="Config via .env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70332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5532120" y="349300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Config via .env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5532120" y="3840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Move port and DB URL out of code (dotenv is installed)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4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ask logo circle"/>
          <p:cNvSpPr/>
          <p:nvPr/>
        </p:nvSpPr>
        <p:spPr>
          <a:xfrm>
            <a:off x="640080" y="640080"/>
            <a:ext cx="822960" cy="8229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Flask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845820"/>
            <a:ext cx="411480" cy="411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Thank you</a:t>
            </a:r>
            <a:endParaRPr lang="en-US" sz="4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" y="25603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Questions?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LabTrack · Lab Equipment Management System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bTrack">
  <a:themeElements>
    <a:clrScheme name="LabTrack">
      <a:dk1>
        <a:srgbClr val="1B2A34"/>
      </a:dk1>
      <a:lt1>
        <a:srgbClr val="FFFFFF"/>
      </a:lt1>
      <a:dk2>
        <a:srgbClr val="0F4C5C"/>
      </a:dk2>
      <a:lt2>
        <a:srgbClr val="EEF4F5"/>
      </a:lt2>
      <a:accent1>
        <a:srgbClr val="0F8B8D"/>
      </a:accent1>
      <a:accent2>
        <a:srgbClr val="E36414"/>
      </a:accent2>
      <a:accent3>
        <a:srgbClr val="5B8E7D"/>
      </a:accent3>
      <a:accent4>
        <a:srgbClr val="F4B942"/>
      </a:accent4>
      <a:accent5>
        <a:srgbClr val="4A6FA5"/>
      </a:accent5>
      <a:accent6>
        <a:srgbClr val="9A031E"/>
      </a:accent6>
      <a:hlink>
        <a:srgbClr val="0F8B8D"/>
      </a:hlink>
      <a:folHlink>
        <a:srgbClr val="5B8E7D"/>
      </a:folHlink>
    </a:clrScheme>
    <a:fontScheme name="LabTrac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LabTrack - Lab Equipment Management System</dc:title>
  <dc:subject>PptxGenJS Presentation</dc:subject>
  <dc:creator>PptxGenJS</dc:creator>
  <cp:lastModifiedBy>PptxGenJS</cp:lastModifiedBy>
  <cp:revision>1</cp:revision>
  <dcterms:created xsi:type="dcterms:W3CDTF">2026-10-25T17:05:36Z</dcterms:created>
  <dcterms:modified xsi:type="dcterms:W3CDTF">2026-10-25T17:05:36Z</dcterms:modified>
</cp:coreProperties>
</file>